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08" r:id="rId1"/>
  </p:sldMasterIdLst>
  <p:notesMasterIdLst>
    <p:notesMasterId r:id="rId22"/>
  </p:notesMasterIdLst>
  <p:handoutMasterIdLst>
    <p:handoutMasterId r:id="rId23"/>
  </p:handoutMasterIdLst>
  <p:sldIdLst>
    <p:sldId id="2134804702" r:id="rId2"/>
    <p:sldId id="2134804704" r:id="rId3"/>
    <p:sldId id="2134804687" r:id="rId4"/>
    <p:sldId id="2134804703" r:id="rId5"/>
    <p:sldId id="2134804705" r:id="rId6"/>
    <p:sldId id="2134804706" r:id="rId7"/>
    <p:sldId id="2134804707" r:id="rId8"/>
    <p:sldId id="2134804716" r:id="rId9"/>
    <p:sldId id="2134804719" r:id="rId10"/>
    <p:sldId id="2134804720" r:id="rId11"/>
    <p:sldId id="2134804721" r:id="rId12"/>
    <p:sldId id="2134804708" r:id="rId13"/>
    <p:sldId id="2134804710" r:id="rId14"/>
    <p:sldId id="2134804712" r:id="rId15"/>
    <p:sldId id="2134804715" r:id="rId16"/>
    <p:sldId id="2134804714" r:id="rId17"/>
    <p:sldId id="2134804713" r:id="rId18"/>
    <p:sldId id="2134804709" r:id="rId19"/>
    <p:sldId id="2134804680" r:id="rId20"/>
    <p:sldId id="2134804711" r:id="rId21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9C97FA4-6F66-4DCE-AC14-8C14A8BE1D6E}">
          <p14:sldIdLst>
            <p14:sldId id="2134804702"/>
            <p14:sldId id="2134804704"/>
            <p14:sldId id="2134804687"/>
            <p14:sldId id="2134804703"/>
            <p14:sldId id="2134804705"/>
            <p14:sldId id="2134804706"/>
            <p14:sldId id="2134804707"/>
            <p14:sldId id="2134804716"/>
            <p14:sldId id="2134804719"/>
            <p14:sldId id="2134804720"/>
            <p14:sldId id="2134804721"/>
            <p14:sldId id="2134804708"/>
            <p14:sldId id="2134804710"/>
            <p14:sldId id="2134804712"/>
            <p14:sldId id="2134804715"/>
            <p14:sldId id="2134804714"/>
            <p14:sldId id="2134804713"/>
            <p14:sldId id="2134804709"/>
            <p14:sldId id="2134804680"/>
            <p14:sldId id="21348047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pos="9928" userDrawn="1">
          <p15:clr>
            <a:srgbClr val="A4A3A4"/>
          </p15:clr>
        </p15:guide>
        <p15:guide id="4" orient="horz" pos="958" userDrawn="1">
          <p15:clr>
            <a:srgbClr val="A4A3A4"/>
          </p15:clr>
        </p15:guide>
        <p15:guide id="5" pos="10019" userDrawn="1">
          <p15:clr>
            <a:srgbClr val="A4A3A4"/>
          </p15:clr>
        </p15:guide>
        <p15:guide id="6" pos="221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8" pos="5029" userDrawn="1">
          <p15:clr>
            <a:srgbClr val="A4A3A4"/>
          </p15:clr>
        </p15:guide>
        <p15:guide id="9" pos="5211" userDrawn="1">
          <p15:clr>
            <a:srgbClr val="A4A3A4"/>
          </p15:clr>
        </p15:guide>
        <p15:guide id="10" pos="301" userDrawn="1">
          <p15:clr>
            <a:srgbClr val="A4A3A4"/>
          </p15:clr>
        </p15:guide>
        <p15:guide id="11" pos="73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0C0BC"/>
    <a:srgbClr val="13A39A"/>
    <a:srgbClr val="00DED9"/>
    <a:srgbClr val="F2F2F2"/>
    <a:srgbClr val="7E8397"/>
    <a:srgbClr val="85BBE1"/>
    <a:srgbClr val="0014A0"/>
    <a:srgbClr val="6D7E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6" autoAdjust="0"/>
    <p:restoredTop sz="79498" autoAdjust="0"/>
  </p:normalViewPr>
  <p:slideViewPr>
    <p:cSldViewPr>
      <p:cViewPr varScale="1">
        <p:scale>
          <a:sx n="87" d="100"/>
          <a:sy n="87" d="100"/>
        </p:scale>
        <p:origin x="1896" y="78"/>
      </p:cViewPr>
      <p:guideLst>
        <p:guide orient="horz" pos="1139"/>
        <p:guide pos="312"/>
        <p:guide pos="9928"/>
        <p:guide orient="horz" pos="958"/>
        <p:guide pos="10019"/>
        <p:guide pos="221"/>
        <p:guide orient="horz" pos="3929"/>
        <p:guide pos="5029"/>
        <p:guide pos="5211"/>
        <p:guide pos="301"/>
        <p:guide pos="73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3" d="100"/>
          <a:sy n="123" d="100"/>
        </p:scale>
        <p:origin x="-1008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135B692-19C0-4622-B9D8-A131620923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1EA976-CCF3-4F18-A9B1-6D0A9B364B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4FC1CB2-5048-4AFA-AD5F-B8CC1A6820B9}" type="datetimeFigureOut">
              <a:rPr lang="de-DE"/>
              <a:pPr>
                <a:defRPr/>
              </a:pPr>
              <a:t>15.06.2025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673A32-A8F2-463E-997B-5CDC81AADB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306EA5-EE45-4382-BD32-7DB4D2F68C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3850B8C-DF87-4FCE-B7D7-796C100EBE4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7089C72-6B50-4C84-A90D-74230D7EAE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C9E4FA-B25D-4743-840A-AE0ABFF5EB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69AA5E2-535A-4E65-9105-D7D27AAE5B4E}" type="datetimeFigureOut">
              <a:rPr lang="de-DE"/>
              <a:pPr>
                <a:defRPr/>
              </a:pPr>
              <a:t>15.06.2025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E1BDD39B-D6D2-42C6-8156-4C65F355E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2A5E349C-8215-4BA5-9111-F259A9F18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1252" y="4715153"/>
            <a:ext cx="6031363" cy="446698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A99C1D-7494-4DC3-83B7-E8A3B97877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82EDE4-30A3-491B-8A34-89D8DFE2C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33E609E-29E7-47DF-8388-48CA1BD678D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6D6E-5BA2-3DDA-1915-76CC01C3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5E606B-39F9-F620-C79C-DA7E6DE3A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744C3F-DC68-ADBF-CD21-D13CAD3CA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40C926-AA23-B726-FBDB-436D223C1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22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88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7252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Meist nur leichte Differenzen -&gt; im 100er und 1000er Bereich</a:t>
            </a:r>
          </a:p>
          <a:p>
            <a:r>
              <a:rPr lang="de-DE" dirty="0"/>
              <a:t>Nur </a:t>
            </a:r>
            <a:r>
              <a:rPr lang="de-DE" dirty="0" err="1"/>
              <a:t>Brightness</a:t>
            </a:r>
            <a:r>
              <a:rPr lang="de-DE" dirty="0"/>
              <a:t> hat Leistung stark verschlechtert -&gt; mehr dazu später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32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de-DE" dirty="0"/>
              <a:t>Recall als einziger Wert gestiegen -&gt; weniger </a:t>
            </a:r>
            <a:r>
              <a:rPr lang="de-DE" dirty="0" err="1"/>
              <a:t>false</a:t>
            </a:r>
            <a:r>
              <a:rPr lang="de-DE" dirty="0"/>
              <a:t> negatives als zuvor</a:t>
            </a:r>
          </a:p>
          <a:p>
            <a:pPr marL="171450" indent="-171450"/>
            <a:r>
              <a:rPr lang="de-DE" dirty="0"/>
              <a:t>Alle anderen </a:t>
            </a:r>
            <a:r>
              <a:rPr lang="de-DE" dirty="0" err="1"/>
              <a:t>Gütemaße</a:t>
            </a:r>
            <a:r>
              <a:rPr lang="de-DE" dirty="0"/>
              <a:t> dafür sichtbar gesunken</a:t>
            </a:r>
          </a:p>
          <a:p>
            <a:pPr marL="171450" indent="-171450"/>
            <a:r>
              <a:rPr lang="de-DE" dirty="0"/>
              <a:t>Bei </a:t>
            </a:r>
            <a:r>
              <a:rPr lang="de-DE" dirty="0" err="1"/>
              <a:t>Augmentierung</a:t>
            </a:r>
            <a:r>
              <a:rPr lang="de-DE" dirty="0"/>
              <a:t>:</a:t>
            </a:r>
          </a:p>
          <a:p>
            <a:pPr marL="628650" lvl="1" indent="-171450"/>
            <a:r>
              <a:rPr lang="de-DE" dirty="0"/>
              <a:t>Von tats. Kein Waldbrand -&gt; ganze 18,5% </a:t>
            </a:r>
            <a:r>
              <a:rPr lang="de-DE" dirty="0" err="1"/>
              <a:t>false</a:t>
            </a:r>
            <a:endParaRPr lang="de-DE" dirty="0"/>
          </a:p>
          <a:p>
            <a:pPr marL="628650" lvl="1" indent="-171450"/>
            <a:r>
              <a:rPr lang="de-DE" dirty="0"/>
              <a:t>Viele </a:t>
            </a:r>
            <a:r>
              <a:rPr lang="de-DE" dirty="0" err="1"/>
              <a:t>fehlalarme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28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Leichte Schwankungen</a:t>
            </a:r>
          </a:p>
          <a:p>
            <a:r>
              <a:rPr lang="de-DE" dirty="0"/>
              <a:t>Außer bei Recall -&gt; deutlicher Anstieg</a:t>
            </a:r>
          </a:p>
          <a:p>
            <a:pPr lvl="1"/>
            <a:r>
              <a:rPr lang="de-DE"/>
              <a:t>Weniger </a:t>
            </a:r>
            <a:r>
              <a:rPr lang="de-DE" dirty="0"/>
              <a:t>W</a:t>
            </a:r>
            <a:r>
              <a:rPr lang="de-DE"/>
              <a:t>aldbrände </a:t>
            </a:r>
            <a:r>
              <a:rPr lang="de-DE" dirty="0"/>
              <a:t>werden übersehen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171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2550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970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D16E7C11-BB3B-415E-8B75-E6F26423EB4F}"/>
              </a:ext>
            </a:extLst>
          </p:cNvPr>
          <p:cNvCxnSpPr/>
          <p:nvPr/>
        </p:nvCxnSpPr>
        <p:spPr>
          <a:xfrm>
            <a:off x="383117" y="6517007"/>
            <a:ext cx="10752667" cy="190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7">
            <a:extLst>
              <a:ext uri="{FF2B5EF4-FFF2-40B4-BE49-F238E27FC236}">
                <a16:creationId xmlns:a16="http://schemas.microsoft.com/office/drawing/2014/main" id="{6194A59F-6BC9-45A4-BD9E-E97C2B4E8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00" y="388621"/>
            <a:ext cx="543984" cy="146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4000" y="2016000"/>
            <a:ext cx="10752000" cy="2520000"/>
          </a:xfrm>
        </p:spPr>
        <p:txBody>
          <a:bodyPr/>
          <a:lstStyle>
            <a:lvl1pPr algn="l">
              <a:defRPr sz="57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4000" y="4608000"/>
            <a:ext cx="10752000" cy="1440000"/>
          </a:xfrm>
        </p:spPr>
        <p:txBody>
          <a:bodyPr/>
          <a:lstStyle>
            <a:lvl1pPr marL="0" indent="0" algn="l">
              <a:buNone/>
              <a:defRPr sz="2880">
                <a:solidFill>
                  <a:schemeClr val="tx1"/>
                </a:solidFill>
                <a:latin typeface="Verdana" pitchFamily="34" charset="0"/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68A60B5E-C682-CC11-6A73-60453E0DD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97C69557-540C-447C-8BEF-1BBC1255F022}" type="datetime1">
              <a:rPr lang="de-DE" smtClean="0"/>
              <a:t>15.06.2025</a:t>
            </a:fld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8DD3C7CF-FEFD-AAC2-8967-E1F55B820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6CA1D61-4736-B325-5B7B-12431EE41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9326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8F53D9D9-2FD6-409A-A861-1BB8BBFB010A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7">
            <a:extLst>
              <a:ext uri="{FF2B5EF4-FFF2-40B4-BE49-F238E27FC236}">
                <a16:creationId xmlns:a16="http://schemas.microsoft.com/office/drawing/2014/main" id="{89A51864-29E2-4142-A8B3-92849C4F79BC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9" descr="FHAAC_RGB_oBL-r.jpg">
            <a:extLst>
              <a:ext uri="{FF2B5EF4-FFF2-40B4-BE49-F238E27FC236}">
                <a16:creationId xmlns:a16="http://schemas.microsoft.com/office/drawing/2014/main" id="{970F63FB-E23E-47C9-BF11-0314AA796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9418" y="287339"/>
            <a:ext cx="772583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1295999"/>
            <a:ext cx="10752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Verdana" pitchFamily="34" charset="0"/>
              </a:defRPr>
            </a:lvl1pPr>
            <a:lvl2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Verdana" pitchFamily="34" charset="0"/>
              </a:defRPr>
            </a:lvl2pPr>
            <a:lvl3pPr marL="641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 typeface="Wingdings" panose="05000000000000000000" pitchFamily="2" charset="2"/>
              <a:buNone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</a:defRPr>
            </a:lvl5pPr>
            <a:lvl6pPr marL="2743132" indent="0">
              <a:buFont typeface="Wingdings" panose="05000000000000000000" pitchFamily="2" charset="2"/>
              <a:buNone/>
              <a:defRPr sz="2000"/>
            </a:lvl6pPr>
            <a:lvl7pPr marL="3566071" indent="-274313">
              <a:buFont typeface="Wingdings" panose="05000000000000000000" pitchFamily="2" charset="2"/>
              <a:buChar char="§"/>
              <a:defRPr sz="2000"/>
            </a:lvl7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endParaRPr lang="de-DE" dirty="0"/>
          </a:p>
          <a:p>
            <a:pPr lvl="0"/>
            <a:endParaRPr lang="de-DE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E42DF62-CEF3-FAA3-E8C0-7F1835111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AC577783-DE3D-4066-A708-26327062C6C4}" type="datetime1">
              <a:rPr lang="de-DE" smtClean="0"/>
              <a:t>15.06.2025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056F7F65-2119-1FA2-64E9-B7E2E562A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4D97340F-B274-6725-CDFB-F3867F83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7811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>
            <a:extLst>
              <a:ext uri="{FF2B5EF4-FFF2-40B4-BE49-F238E27FC236}">
                <a16:creationId xmlns:a16="http://schemas.microsoft.com/office/drawing/2014/main" id="{52189165-C988-44EF-B1F4-F276F7ACFA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9A644C95-7ECF-4EB3-AA15-C3976A3D01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3"/>
            <a:r>
              <a:rPr lang="de-DE" altLang="de-DE" dirty="0"/>
              <a:t>Dritte Ebene</a:t>
            </a:r>
          </a:p>
          <a:p>
            <a:pPr lvl="3"/>
            <a:endParaRPr lang="de-DE" alt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A19642-CF4E-4CEB-9E9E-BFE270701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09D76D4D-BB23-473E-876C-4E3EC0B5B16A}" type="datetime1">
              <a:rPr lang="de-DE" smtClean="0"/>
              <a:t>15.06.2025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D170A-A2A9-4601-AE32-133100AE4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F7EED8-B138-4B21-8DBA-A35B8221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3563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29" r:id="rId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5pPr>
      <a:lvl6pPr marL="548626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6pPr>
      <a:lvl7pPr marL="1097253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7pPr>
      <a:lvl8pPr marL="1645879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8pPr>
      <a:lvl9pPr marL="219450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834377" indent="-285750" algn="l" rtl="0" eaLnBrk="1" fontAlgn="base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868658" indent="-441949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931629" indent="-285750" algn="l" rtl="0" eaLnBrk="1" fontAlgn="base" hangingPunct="1">
        <a:spcBef>
          <a:spcPts val="0"/>
        </a:spcBef>
        <a:spcAft>
          <a:spcPts val="1200"/>
        </a:spcAft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868658" indent="-44194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3017445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bdelghaniaaba/wildfire-prediction-datas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21646-0668-5953-0624-611C96FBE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1772816"/>
            <a:ext cx="10752000" cy="2520000"/>
          </a:xfrm>
        </p:spPr>
        <p:txBody>
          <a:bodyPr/>
          <a:lstStyle/>
          <a:p>
            <a:r>
              <a:rPr lang="de-DE" sz="5400" dirty="0"/>
              <a:t>ADA 2025 – Waldbranderkennung mittels Bildklassifikation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794AE7-F7D6-6D4B-CF9C-D8DC3181A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4509120"/>
            <a:ext cx="10752000" cy="1440000"/>
          </a:xfrm>
        </p:spPr>
        <p:txBody>
          <a:bodyPr/>
          <a:lstStyle/>
          <a:p>
            <a:r>
              <a:rPr lang="de-DE" sz="2800" dirty="0"/>
              <a:t>Gruppe 3 - Philipp Schulte-Glade, </a:t>
            </a:r>
            <a:r>
              <a:rPr lang="de-DE" sz="2800" dirty="0" err="1"/>
              <a:t>Houdaifa</a:t>
            </a:r>
            <a:r>
              <a:rPr lang="de-DE" sz="2800" dirty="0"/>
              <a:t> </a:t>
            </a:r>
            <a:r>
              <a:rPr lang="de-DE" sz="2800" dirty="0" err="1"/>
              <a:t>Lanijri</a:t>
            </a:r>
            <a:r>
              <a:rPr lang="de-DE" sz="2800" dirty="0"/>
              <a:t>, Benedikt Schmitz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D3909D-00DC-4473-2011-5E7353B98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B129EA-C504-849B-5FB8-4415BD86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5209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A08A-6CD7-534E-5EFE-68F852CA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9E4B8-620F-7251-D2F2-2DD01D96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93D819-E017-3285-E225-B0CF7363E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Datensatz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Vorverarbeitung und Explorative Datenanalyse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Einordung des Anwendungsproblems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Detailfragen: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Welche CNN Architektur erreicht die höchste Genauigkeit?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Wie wirkt sich Data Augmentation auf die Erkennungsgenauigkeit des Modells aus?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Welche Kriterien nutzt das Model hauptsächlich zur Klassifizierung?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Interpretation und Fazit</a:t>
            </a:r>
          </a:p>
          <a:p>
            <a:pPr>
              <a:spcAft>
                <a:spcPts val="1800"/>
              </a:spcAft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C7113E-8F19-7721-F31B-66519741D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Titel des Projekts | Nachnamen der Autoren einfügen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FC4E3E-802C-A5A0-ABB1-3E122F11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135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C9C9A-E79B-43F9-B8C4-A282EF79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442399-334E-489A-B885-1FC8DDA9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484783"/>
            <a:ext cx="10752000" cy="4851215"/>
          </a:xfrm>
        </p:spPr>
        <p:txBody>
          <a:bodyPr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Satellitenbilder in 350x350px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22.710 „</a:t>
            </a:r>
            <a:r>
              <a:rPr lang="de-DE" dirty="0" err="1"/>
              <a:t>Wildfire</a:t>
            </a:r>
            <a:r>
              <a:rPr lang="de-DE" dirty="0"/>
              <a:t>“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20.140 „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Wildfire</a:t>
            </a:r>
            <a:r>
              <a:rPr lang="de-DE" dirty="0"/>
              <a:t>“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Augeteilt</a:t>
            </a:r>
            <a:r>
              <a:rPr lang="de-DE" dirty="0"/>
              <a:t> in 70% Train, 15% Test, 15% Validation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Bilder basieren auf realen Waldbrandkoordinaten (&gt;0,01 Acres)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Quelle: Kanadische Regierungsdaten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Lizenz</a:t>
            </a:r>
            <a:r>
              <a:rPr lang="en-US" dirty="0"/>
              <a:t>: Creative Commons 4.0 Attribution (CC-BY)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Link zum Datensatz: </a:t>
            </a:r>
            <a:r>
              <a:rPr lang="de-DE" dirty="0">
                <a:solidFill>
                  <a:srgbClr val="FF0000"/>
                </a:solidFill>
                <a:hlinkClick r:id="rId3"/>
              </a:rPr>
              <a:t>https://www.kaggle.com/datasets/abdelghaniaaba/wildfire-prediction-dataset/</a:t>
            </a:r>
            <a:endParaRPr lang="de-DE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DD1D97-44A3-4E36-B34A-DA5D36BF0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Titel des Projekts | Nachnamen der Autoren einfügen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013BAF-1292-BD81-5934-1085F44B3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3</a:t>
            </a:fld>
            <a:endParaRPr lang="de-DE" alt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2C7FF-7CBD-1D08-51D9-AB6154E3C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105" y="1484784"/>
            <a:ext cx="2736304" cy="2736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AB37A2-7EC5-7487-52F8-72342EBC5766}"/>
              </a:ext>
            </a:extLst>
          </p:cNvPr>
          <p:cNvSpPr txBox="1"/>
          <p:nvPr/>
        </p:nvSpPr>
        <p:spPr>
          <a:xfrm>
            <a:off x="8399697" y="4221088"/>
            <a:ext cx="2736304" cy="287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Abb. 1: Beispiel aus dem Datensatz</a:t>
            </a:r>
          </a:p>
        </p:txBody>
      </p:sp>
    </p:spTree>
    <p:extLst>
      <p:ext uri="{BB962C8B-B14F-4D97-AF65-F5344CB8AC3E}">
        <p14:creationId xmlns:p14="http://schemas.microsoft.com/office/powerpoint/2010/main" val="87597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8E1A0C-AAD8-D594-0557-CA36F214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Vorverarbeitung und Explorative Datenanalyse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D3D16D-2019-2A07-D4FE-9B7DBD9D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295999"/>
            <a:ext cx="10536536" cy="504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6FC422-A9F6-65AA-E0CF-917E33B9C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26B0F3-BB07-93FA-AB74-3781DFF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3512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91A89-ECF3-2896-2B7C-7CD5DC0D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Einordung des Anwendungsproblems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EDF21F-AF4D-6A56-56A7-D0B68D71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799"/>
            <a:ext cx="10584616" cy="470719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inäre Klassifikation von Satelittenbilder (wildfire/no-wildfire)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Bildverarbeitungsproblem mit CNN-basierter Mustererkennung</a:t>
            </a:r>
            <a:endParaRPr lang="en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</a:t>
            </a:r>
            <a:r>
              <a:rPr lang="en-DE" dirty="0"/>
              <a:t>rkennt Gebiete mit Waldbrandrisiko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Beitrag zum Umweltschutz und Katastrophenmanagement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CAFA0E-42B2-B0D5-6E82-95E48B9DE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742493-D764-D216-3745-7D538C46F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6332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850BC-D21C-0E87-9DCA-E29B5BFE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CNN Architektur erreicht die höchste Genauigkeit?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8994D-6699-7BDF-6C1C-E8D1C618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5854DB-CB5A-4BE7-96BE-41D45DEF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870B79-68DC-9313-7AF2-C3AE084AD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7631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CD595-8F10-92FD-627D-FCCF92C2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C011A4-BDAA-A57E-4E41-3D9116C1F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dirty="0"/>
              <a:t>Ansatz:</a:t>
            </a:r>
          </a:p>
          <a:p>
            <a:pPr marL="685800" lvl="1">
              <a:buAutoNum type="alphaLcPeriod"/>
            </a:pPr>
            <a:r>
              <a:rPr lang="de-DE" dirty="0"/>
              <a:t>Trainiere Modelle mit unterschiedlichen </a:t>
            </a:r>
            <a:r>
              <a:rPr lang="de-DE" dirty="0" err="1"/>
              <a:t>Augmentierungen</a:t>
            </a:r>
            <a:endParaRPr lang="de-DE" dirty="0"/>
          </a:p>
          <a:p>
            <a:pPr marL="685800" lvl="1">
              <a:buAutoNum type="alphaLcPeriod"/>
            </a:pPr>
            <a:r>
              <a:rPr lang="de-DE" dirty="0"/>
              <a:t>Vergleiche </a:t>
            </a:r>
            <a:r>
              <a:rPr lang="de-DE" dirty="0" err="1"/>
              <a:t>Evaluationsmetriken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DC9D27-15AC-6573-32A6-5D743FDD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4D84B-36D2-F0ED-AA32-C6C42BF55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7</a:t>
            </a:fld>
            <a:endParaRPr lang="de-DE" alt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0EB4F7F-C999-248B-B0C7-C3367CE3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71" y="4221154"/>
            <a:ext cx="1044085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1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A355E-719A-43D5-DF6F-BAB973A7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1E5A7-B12B-2807-549F-BBA35A89A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0C2B3F-B96C-1B47-C8E0-E6DD9547D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8</a:t>
            </a:fld>
            <a:endParaRPr lang="de-DE" altLang="de-DE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B1E37523-CB50-9DED-9D75-697E65E95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4844" y="1198239"/>
            <a:ext cx="7662312" cy="5321385"/>
          </a:xfrm>
        </p:spPr>
      </p:pic>
    </p:spTree>
    <p:extLst>
      <p:ext uri="{BB962C8B-B14F-4D97-AF65-F5344CB8AC3E}">
        <p14:creationId xmlns:p14="http://schemas.microsoft.com/office/powerpoint/2010/main" val="124682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44A108-6F52-B876-DA6D-5548EE32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F6E246-8A02-D5AF-53FE-6D032624D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strike="sngStrike" dirty="0"/>
              <a:t>Ansatz:</a:t>
            </a:r>
          </a:p>
          <a:p>
            <a:pPr marL="685800" lvl="1">
              <a:buAutoNum type="alphaLcPeriod"/>
            </a:pPr>
            <a:r>
              <a:rPr lang="de-DE" strike="sngStrike" dirty="0"/>
              <a:t>Trainiere Modelle mit unterschiedlichen </a:t>
            </a:r>
            <a:r>
              <a:rPr lang="de-DE" strike="sngStrike" dirty="0" err="1"/>
              <a:t>Augmentierungen</a:t>
            </a:r>
            <a:endParaRPr lang="de-DE" strike="sngStrike" dirty="0"/>
          </a:p>
          <a:p>
            <a:pPr marL="685800" lvl="1">
              <a:buAutoNum type="alphaLcPeriod"/>
            </a:pPr>
            <a:r>
              <a:rPr lang="de-DE" strike="sngStrike" dirty="0"/>
              <a:t>Vergleiche </a:t>
            </a:r>
            <a:r>
              <a:rPr lang="de-DE" strike="sngStrike" dirty="0" err="1"/>
              <a:t>Evaluationsmetriken</a:t>
            </a:r>
            <a:endParaRPr lang="de-DE" strike="sngStrike" dirty="0"/>
          </a:p>
          <a:p>
            <a:pPr marL="342900" indent="-342900">
              <a:buAutoNum type="arabicPeriod"/>
            </a:pPr>
            <a:r>
              <a:rPr lang="de-DE" dirty="0"/>
              <a:t>Ansatz:</a:t>
            </a:r>
          </a:p>
          <a:p>
            <a:pPr marL="685800" lvl="1">
              <a:buAutoNum type="alphaLcPeriod"/>
            </a:pPr>
            <a:r>
              <a:rPr lang="de-DE" dirty="0"/>
              <a:t>Trainiere Baseline Modell und Modell mit Kombination aus </a:t>
            </a:r>
            <a:r>
              <a:rPr lang="de-DE" dirty="0" err="1"/>
              <a:t>Augmentierungen</a:t>
            </a:r>
            <a:endParaRPr lang="de-DE" dirty="0"/>
          </a:p>
          <a:p>
            <a:pPr marL="685800" lvl="1">
              <a:buAutoNum type="alphaLcPeriod"/>
            </a:pPr>
            <a:r>
              <a:rPr lang="de-DE" dirty="0"/>
              <a:t>Vergleiche </a:t>
            </a:r>
            <a:r>
              <a:rPr lang="de-DE" dirty="0" err="1"/>
              <a:t>Evaluationsmetriken</a:t>
            </a:r>
            <a:endParaRPr lang="de-DE" dirty="0"/>
          </a:p>
          <a:p>
            <a:pPr marL="1098550" lvl="2" indent="-400050">
              <a:buAutoNum type="romanLcPeriod"/>
            </a:pPr>
            <a:r>
              <a:rPr lang="de-DE" dirty="0"/>
              <a:t>auf unveränderten Testdaten</a:t>
            </a:r>
          </a:p>
          <a:p>
            <a:pPr marL="1098550" lvl="2" indent="-400050">
              <a:buAutoNum type="romanLcPeriod"/>
            </a:pPr>
            <a:r>
              <a:rPr lang="de-DE" dirty="0"/>
              <a:t>auf augmentierten Testdaten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ED9490-4C16-A1FB-12FC-CF182F01C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771940-9105-5F48-62AA-6ED8F6751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9</a:t>
            </a:fld>
            <a:endParaRPr lang="de-DE" alt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388B816-F9CF-5B2A-A733-4C7748B7D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1" y="4221154"/>
            <a:ext cx="1044085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BCB5E-63C1-A62B-EEA1-112C3A2E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Vergleich – unveränderte und veränderte Testdaten</a:t>
            </a:r>
            <a:br>
              <a:rPr lang="de-DE" dirty="0"/>
            </a:br>
            <a:r>
              <a:rPr lang="de-DE" sz="2000" dirty="0"/>
              <a:t>Baseline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FA6C3E-7EAB-F84A-A921-2F9305CCF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Titel des Projekts | Nachnamen der Autoren einfügen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622BA0-1B78-119F-794D-920F36C09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10</a:t>
            </a:fld>
            <a:endParaRPr lang="de-DE" altLang="de-DE"/>
          </a:p>
        </p:txBody>
      </p:sp>
      <p:pic>
        <p:nvPicPr>
          <p:cNvPr id="18" name="Inhaltsplatzhalter 17">
            <a:extLst>
              <a:ext uri="{FF2B5EF4-FFF2-40B4-BE49-F238E27FC236}">
                <a16:creationId xmlns:a16="http://schemas.microsoft.com/office/drawing/2014/main" id="{B6150671-2145-4691-4F5E-F00F04CC9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54" y="1443417"/>
            <a:ext cx="5561618" cy="4573613"/>
          </a:xfr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DC3A646-7865-DBF8-989F-41F5FAA9A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0" y="1419513"/>
            <a:ext cx="5561618" cy="459751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BCDE90F-151B-57A3-C9B1-FE83A977EF67}"/>
              </a:ext>
            </a:extLst>
          </p:cNvPr>
          <p:cNvSpPr txBox="1"/>
          <p:nvPr/>
        </p:nvSpPr>
        <p:spPr>
          <a:xfrm>
            <a:off x="2665659" y="5867672"/>
            <a:ext cx="6188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Veränderung</a:t>
            </a:r>
          </a:p>
          <a:p>
            <a:r>
              <a:rPr lang="de-DE" sz="1600" dirty="0" err="1"/>
              <a:t>Accuracy</a:t>
            </a:r>
            <a:r>
              <a:rPr lang="de-DE" sz="1600" dirty="0"/>
              <a:t>: </a:t>
            </a:r>
            <a:r>
              <a:rPr lang="de-DE" sz="1600" dirty="0">
                <a:solidFill>
                  <a:srgbClr val="C00000"/>
                </a:solidFill>
              </a:rPr>
              <a:t>-0.0627</a:t>
            </a:r>
            <a:r>
              <a:rPr lang="de-DE" sz="1600" dirty="0"/>
              <a:t>, Precision: </a:t>
            </a:r>
            <a:r>
              <a:rPr lang="de-DE" sz="1600" dirty="0">
                <a:solidFill>
                  <a:srgbClr val="C00000"/>
                </a:solidFill>
              </a:rPr>
              <a:t>-0.1101</a:t>
            </a:r>
            <a:r>
              <a:rPr lang="de-DE" sz="1600" dirty="0"/>
              <a:t>, Recall: </a:t>
            </a:r>
            <a:r>
              <a:rPr lang="de-DE" sz="1600" dirty="0">
                <a:solidFill>
                  <a:srgbClr val="00B050"/>
                </a:solidFill>
              </a:rPr>
              <a:t>+0.013</a:t>
            </a:r>
            <a:r>
              <a:rPr lang="de-DE" sz="1600" dirty="0"/>
              <a:t>, F1: </a:t>
            </a:r>
            <a:r>
              <a:rPr lang="de-DE" sz="1600" dirty="0">
                <a:solidFill>
                  <a:srgbClr val="C00000"/>
                </a:solidFill>
              </a:rPr>
              <a:t>-0.0513</a:t>
            </a:r>
          </a:p>
        </p:txBody>
      </p:sp>
    </p:spTree>
    <p:extLst>
      <p:ext uri="{BB962C8B-B14F-4D97-AF65-F5344CB8AC3E}">
        <p14:creationId xmlns:p14="http://schemas.microsoft.com/office/powerpoint/2010/main" val="352064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903D5-8827-D1B7-A1B8-040E1ADE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Vergleich – unveränderte und veränderte Testdaten</a:t>
            </a:r>
            <a:br>
              <a:rPr lang="de-DE" dirty="0"/>
            </a:br>
            <a:r>
              <a:rPr lang="de-DE" sz="2000" dirty="0"/>
              <a:t>Kombination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E9AFE5E-56A8-8642-6E18-B096C7565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28" y="1399668"/>
            <a:ext cx="5502073" cy="461781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671DE2-E329-7173-17FF-3EDA58D75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CFB8B6-A851-4F0E-2983-24D2FBBCC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11</a:t>
            </a:fld>
            <a:endParaRPr lang="de-DE" alt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6BB3679-D5CD-0F82-BDA3-0BE4A2FA7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03" y="1399668"/>
            <a:ext cx="5605365" cy="462162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562E074-343A-4184-320B-7EB770192377}"/>
              </a:ext>
            </a:extLst>
          </p:cNvPr>
          <p:cNvSpPr txBox="1"/>
          <p:nvPr/>
        </p:nvSpPr>
        <p:spPr>
          <a:xfrm>
            <a:off x="2549826" y="5869485"/>
            <a:ext cx="6420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Veränderung</a:t>
            </a:r>
          </a:p>
          <a:p>
            <a:r>
              <a:rPr lang="de-DE" sz="1600" dirty="0" err="1"/>
              <a:t>Accuracy</a:t>
            </a:r>
            <a:r>
              <a:rPr lang="de-DE" sz="1600" dirty="0"/>
              <a:t>: </a:t>
            </a:r>
            <a:r>
              <a:rPr lang="de-DE" sz="1600" dirty="0">
                <a:solidFill>
                  <a:srgbClr val="00B050"/>
                </a:solidFill>
              </a:rPr>
              <a:t>+0.0202</a:t>
            </a:r>
            <a:r>
              <a:rPr lang="de-DE" sz="1600" dirty="0"/>
              <a:t>, Precision: </a:t>
            </a:r>
            <a:r>
              <a:rPr lang="de-DE" sz="1600" dirty="0">
                <a:solidFill>
                  <a:srgbClr val="C00000"/>
                </a:solidFill>
              </a:rPr>
              <a:t>-0.0165</a:t>
            </a:r>
            <a:r>
              <a:rPr lang="de-DE" sz="1600" dirty="0"/>
              <a:t>, Recall: </a:t>
            </a:r>
            <a:r>
              <a:rPr lang="de-DE" sz="1600" dirty="0">
                <a:solidFill>
                  <a:srgbClr val="00B050"/>
                </a:solidFill>
              </a:rPr>
              <a:t>+0.0541</a:t>
            </a:r>
            <a:r>
              <a:rPr lang="de-DE" sz="1600" dirty="0"/>
              <a:t>, F1: </a:t>
            </a:r>
            <a:r>
              <a:rPr lang="de-DE" sz="1600" dirty="0">
                <a:solidFill>
                  <a:srgbClr val="00B050"/>
                </a:solidFill>
              </a:rPr>
              <a:t>+0.0203</a:t>
            </a:r>
          </a:p>
        </p:txBody>
      </p:sp>
    </p:spTree>
    <p:extLst>
      <p:ext uri="{BB962C8B-B14F-4D97-AF65-F5344CB8AC3E}">
        <p14:creationId xmlns:p14="http://schemas.microsoft.com/office/powerpoint/2010/main" val="112539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38149-E390-1762-58B5-6F1D8A43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</a:t>
            </a:r>
            <a:r>
              <a:rPr lang="de-DE" dirty="0" err="1"/>
              <a:t>GradCam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985055-DC01-557E-02EB-1B2F2284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844824"/>
            <a:ext cx="6552728" cy="44911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GradCam</a:t>
            </a:r>
            <a:r>
              <a:rPr lang="en-US" dirty="0"/>
              <a:t> – Was </a:t>
            </a:r>
            <a:r>
              <a:rPr lang="en-US" dirty="0" err="1"/>
              <a:t>ist</a:t>
            </a:r>
            <a:r>
              <a:rPr lang="en-US" dirty="0"/>
              <a:t> das?</a:t>
            </a:r>
          </a:p>
          <a:p>
            <a:pPr marL="628650" lvl="1" indent="-285750">
              <a:lnSpc>
                <a:spcPct val="150000"/>
              </a:lnSpc>
            </a:pPr>
            <a:r>
              <a:rPr lang="en-US" dirty="0" err="1"/>
              <a:t>Visualisiert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Bildbereiche</a:t>
            </a:r>
            <a:endParaRPr lang="en-US" dirty="0"/>
          </a:p>
          <a:p>
            <a:pPr marL="628650" lvl="1" indent="-285750">
              <a:lnSpc>
                <a:spcPct val="150000"/>
              </a:lnSpc>
            </a:pPr>
            <a:r>
              <a:rPr lang="en-US" dirty="0" err="1"/>
              <a:t>Zeigt</a:t>
            </a:r>
            <a:r>
              <a:rPr lang="en-US" dirty="0"/>
              <a:t>: “</a:t>
            </a:r>
            <a:r>
              <a:rPr lang="en-US" dirty="0" err="1"/>
              <a:t>Worauf</a:t>
            </a:r>
            <a:r>
              <a:rPr lang="en-US" dirty="0"/>
              <a:t> </a:t>
            </a:r>
            <a:r>
              <a:rPr lang="en-US" dirty="0" err="1"/>
              <a:t>achtet</a:t>
            </a:r>
            <a:r>
              <a:rPr lang="en-US" dirty="0"/>
              <a:t> das Modell?”</a:t>
            </a:r>
          </a:p>
          <a:p>
            <a:pPr marL="628650" lvl="1" indent="-285750">
              <a:lnSpc>
                <a:spcPct val="150000"/>
              </a:lnSpc>
            </a:pPr>
            <a:r>
              <a:rPr lang="en-US" dirty="0"/>
              <a:t>Standard-Tool für CNN Interpretation</a:t>
            </a:r>
          </a:p>
          <a:p>
            <a:pPr marL="628650" lvl="1" indent="-285750">
              <a:lnSpc>
                <a:spcPct val="150000"/>
              </a:lnSpc>
            </a:pPr>
            <a:endParaRPr lang="en-US" dirty="0"/>
          </a:p>
          <a:p>
            <a:r>
              <a:rPr lang="en-US" b="1" dirty="0" err="1"/>
              <a:t>Erwartung</a:t>
            </a:r>
            <a:r>
              <a:rPr lang="en-US" b="1" dirty="0"/>
              <a:t>:</a:t>
            </a:r>
            <a:r>
              <a:rPr lang="en-US" dirty="0"/>
              <a:t> Klare </a:t>
            </a:r>
            <a:r>
              <a:rPr lang="en-US" dirty="0" err="1"/>
              <a:t>Fokussierung</a:t>
            </a:r>
            <a:r>
              <a:rPr lang="en-US" dirty="0"/>
              <a:t> auf </a:t>
            </a:r>
            <a:r>
              <a:rPr lang="en-US" dirty="0" err="1"/>
              <a:t>brennbare</a:t>
            </a:r>
            <a:r>
              <a:rPr lang="en-US" dirty="0"/>
              <a:t> </a:t>
            </a:r>
            <a:r>
              <a:rPr lang="en-US" dirty="0" err="1"/>
              <a:t>Objekte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855BF1-8386-1063-93BE-5AF798571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8C4E8C-6F15-26A6-D715-C6D2C3843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12</a:t>
            </a:fld>
            <a:endParaRPr lang="de-DE" altLang="de-DE"/>
          </a:p>
        </p:txBody>
      </p:sp>
      <p:pic>
        <p:nvPicPr>
          <p:cNvPr id="6" name="Picture 4" descr="GradCAM: Enhancing Neural Network Interpretability">
            <a:extLst>
              <a:ext uri="{FF2B5EF4-FFF2-40B4-BE49-F238E27FC236}">
                <a16:creationId xmlns:a16="http://schemas.microsoft.com/office/drawing/2014/main" id="{4300C151-C40A-578B-02F3-EECA49B0D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645"/>
          <a:stretch>
            <a:fillRect/>
          </a:stretch>
        </p:blipFill>
        <p:spPr bwMode="auto">
          <a:xfrm>
            <a:off x="5978669" y="1556792"/>
            <a:ext cx="2389044" cy="249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GradCAM: Enhancing Neural Network Interpretability">
            <a:extLst>
              <a:ext uri="{FF2B5EF4-FFF2-40B4-BE49-F238E27FC236}">
                <a16:creationId xmlns:a16="http://schemas.microsoft.com/office/drawing/2014/main" id="{31D115B1-AC56-29F2-6840-C6525E802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34"/>
          <a:stretch>
            <a:fillRect/>
          </a:stretch>
        </p:blipFill>
        <p:spPr bwMode="auto">
          <a:xfrm>
            <a:off x="8733676" y="1550113"/>
            <a:ext cx="2389044" cy="250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E2DBFE24-B053-0F73-EFE7-89BA13870244}"/>
              </a:ext>
            </a:extLst>
          </p:cNvPr>
          <p:cNvSpPr/>
          <p:nvPr/>
        </p:nvSpPr>
        <p:spPr>
          <a:xfrm>
            <a:off x="8394773" y="2596235"/>
            <a:ext cx="338903" cy="375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CC092FC-3AEF-203D-2699-9AC54809EE29}"/>
              </a:ext>
            </a:extLst>
          </p:cNvPr>
          <p:cNvSpPr txBox="1"/>
          <p:nvPr/>
        </p:nvSpPr>
        <p:spPr>
          <a:xfrm>
            <a:off x="7104112" y="4017386"/>
            <a:ext cx="4914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Abb. 1: </a:t>
            </a:r>
            <a:r>
              <a:rPr lang="en-US" sz="1600" dirty="0" err="1"/>
              <a:t>GradCam</a:t>
            </a:r>
            <a:r>
              <a:rPr lang="en-US" sz="1600" dirty="0"/>
              <a:t> </a:t>
            </a:r>
            <a:r>
              <a:rPr lang="en-US" sz="1600" dirty="0" err="1"/>
              <a:t>Visualisierung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507666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B9BE9-D776-9A3B-7386-D672D996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</a:t>
            </a:r>
            <a:r>
              <a:rPr lang="de-DE" dirty="0" err="1"/>
              <a:t>GradCam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79A8EA9-8785-9E21-A18B-6566F3E74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9"/>
          <a:stretch>
            <a:fillRect/>
          </a:stretch>
        </p:blipFill>
        <p:spPr>
          <a:xfrm>
            <a:off x="551384" y="3913893"/>
            <a:ext cx="5040561" cy="253597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4CE3A0-1660-DEA8-2B74-9448FC8DD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393019-4F4E-8D36-DEBB-AA7222A12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13</a:t>
            </a:fld>
            <a:endParaRPr lang="de-DE" alt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87AFE59-DD18-549A-180D-1F5F71D82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228456"/>
            <a:ext cx="5040560" cy="2671964"/>
          </a:xfrm>
          <a:prstGeom prst="rect">
            <a:avLst/>
          </a:prstGeom>
        </p:spPr>
      </p:pic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DD597DAE-13CC-0DA3-C42C-29EFD825A1EE}"/>
              </a:ext>
            </a:extLst>
          </p:cNvPr>
          <p:cNvSpPr/>
          <p:nvPr/>
        </p:nvSpPr>
        <p:spPr>
          <a:xfrm>
            <a:off x="2927648" y="2348880"/>
            <a:ext cx="288032" cy="313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38D1F46-B1B3-7466-24B2-C9954F4ABD2F}"/>
              </a:ext>
            </a:extLst>
          </p:cNvPr>
          <p:cNvSpPr/>
          <p:nvPr/>
        </p:nvSpPr>
        <p:spPr>
          <a:xfrm>
            <a:off x="2927648" y="4863915"/>
            <a:ext cx="288032" cy="313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EA3B881-3A3D-A1FF-00F9-9EEBCE827E22}"/>
              </a:ext>
            </a:extLst>
          </p:cNvPr>
          <p:cNvSpPr txBox="1"/>
          <p:nvPr/>
        </p:nvSpPr>
        <p:spPr>
          <a:xfrm>
            <a:off x="6168008" y="1880211"/>
            <a:ext cx="653942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Problem: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Schwache</a:t>
            </a:r>
            <a:r>
              <a:rPr lang="en-US" sz="2000" dirty="0"/>
              <a:t>, diffuse Muster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Keine</a:t>
            </a:r>
            <a:r>
              <a:rPr lang="en-US" sz="2000" dirty="0"/>
              <a:t> </a:t>
            </a:r>
            <a:r>
              <a:rPr lang="en-US" sz="2000" dirty="0" err="1"/>
              <a:t>klare</a:t>
            </a:r>
            <a:r>
              <a:rPr lang="en-US" sz="2000" dirty="0"/>
              <a:t> </a:t>
            </a:r>
            <a:r>
              <a:rPr lang="en-US" sz="2000" dirty="0" err="1"/>
              <a:t>Objektfokussierung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Bei 32x32 Pixel </a:t>
            </a:r>
            <a:r>
              <a:rPr lang="en-US" sz="2000" dirty="0" err="1"/>
              <a:t>schwer</a:t>
            </a:r>
            <a:r>
              <a:rPr lang="en-US" sz="2000" dirty="0"/>
              <a:t> </a:t>
            </a:r>
            <a:r>
              <a:rPr lang="en-US" sz="2000" dirty="0" err="1"/>
              <a:t>interpretierbar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r>
              <a:rPr lang="en-US" sz="2000" b="1" dirty="0"/>
              <a:t>Frage: </a:t>
            </a:r>
            <a:r>
              <a:rPr lang="en-US" sz="2000" dirty="0"/>
              <a:t>Lernt das Modell </a:t>
            </a:r>
            <a:r>
              <a:rPr lang="en-US" sz="2000" dirty="0" err="1"/>
              <a:t>überhaupt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sinnvolle</a:t>
            </a:r>
            <a:r>
              <a:rPr lang="en-US" sz="2000" dirty="0"/>
              <a:t> Features?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215962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7155F3-AA3E-4C56-08A4-78D1BD1A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Hypothese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D8F7E-9892-560F-55B3-42CFAA2B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56792"/>
            <a:ext cx="10440600" cy="4779206"/>
          </a:xfrm>
        </p:spPr>
        <p:txBody>
          <a:bodyPr/>
          <a:lstStyle/>
          <a:p>
            <a:r>
              <a:rPr lang="en-US" b="1" dirty="0" err="1"/>
              <a:t>Hypothese</a:t>
            </a:r>
            <a:r>
              <a:rPr lang="en-US" b="1" dirty="0"/>
              <a:t>:</a:t>
            </a:r>
            <a:r>
              <a:rPr lang="en-US" dirty="0"/>
              <a:t> “</a:t>
            </a:r>
            <a:r>
              <a:rPr lang="de-DE" dirty="0"/>
              <a:t>Das Modell erkennt </a:t>
            </a:r>
            <a:r>
              <a:rPr lang="de-DE" dirty="0" err="1"/>
              <a:t>Wildfire</a:t>
            </a:r>
            <a:r>
              <a:rPr lang="de-DE" dirty="0"/>
              <a:t>-Risiko </a:t>
            </a:r>
          </a:p>
          <a:p>
            <a:r>
              <a:rPr lang="de-DE" dirty="0"/>
              <a:t>über Trockenheits-Indikatoren in RGB-Daten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b="1" dirty="0"/>
              <a:t>Wildfire </a:t>
            </a:r>
            <a:r>
              <a:rPr lang="en-US" b="1" dirty="0" err="1"/>
              <a:t>Risiko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Dunklere</a:t>
            </a:r>
            <a:r>
              <a:rPr lang="en-US" dirty="0"/>
              <a:t> RGB-</a:t>
            </a:r>
            <a:r>
              <a:rPr lang="en-US" dirty="0" err="1"/>
              <a:t>Werte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Gedämpftere</a:t>
            </a:r>
            <a:r>
              <a:rPr lang="en-US" dirty="0"/>
              <a:t> </a:t>
            </a:r>
            <a:r>
              <a:rPr lang="en-US" dirty="0" err="1"/>
              <a:t>Farbintensität</a:t>
            </a:r>
            <a:endParaRPr lang="en-US" dirty="0"/>
          </a:p>
          <a:p>
            <a:r>
              <a:rPr lang="en-DE" dirty="0"/>
              <a:t>⇒</a:t>
            </a:r>
            <a:r>
              <a:rPr lang="en-US" dirty="0"/>
              <a:t> </a:t>
            </a:r>
            <a:r>
              <a:rPr lang="en-US" dirty="0" err="1"/>
              <a:t>ausgetrocknete</a:t>
            </a:r>
            <a:r>
              <a:rPr lang="en-US" dirty="0"/>
              <a:t> Vegetation</a:t>
            </a:r>
          </a:p>
          <a:p>
            <a:endParaRPr lang="en-US" dirty="0"/>
          </a:p>
          <a:p>
            <a:r>
              <a:rPr lang="en-US" b="1" dirty="0"/>
              <a:t>No-Wildfire </a:t>
            </a:r>
            <a:r>
              <a:rPr lang="en-US" b="1" dirty="0" err="1"/>
              <a:t>Gebiete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Hellere</a:t>
            </a:r>
            <a:r>
              <a:rPr lang="en-US" dirty="0"/>
              <a:t> RGB-</a:t>
            </a:r>
            <a:r>
              <a:rPr lang="en-US" dirty="0" err="1"/>
              <a:t>Werte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Intensivere</a:t>
            </a:r>
            <a:r>
              <a:rPr lang="en-US" dirty="0"/>
              <a:t> Farben</a:t>
            </a:r>
          </a:p>
          <a:p>
            <a:r>
              <a:rPr lang="en-DE" dirty="0"/>
              <a:t>⇒</a:t>
            </a:r>
            <a:r>
              <a:rPr lang="en-US" dirty="0"/>
              <a:t> </a:t>
            </a:r>
            <a:r>
              <a:rPr lang="en-US" dirty="0" err="1"/>
              <a:t>gesunde</a:t>
            </a:r>
            <a:r>
              <a:rPr lang="en-US" dirty="0"/>
              <a:t>, </a:t>
            </a:r>
            <a:r>
              <a:rPr lang="en-US" dirty="0" err="1"/>
              <a:t>wasserreiche</a:t>
            </a:r>
            <a:r>
              <a:rPr lang="en-US" dirty="0"/>
              <a:t> Vegetation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6FEBEC-2DEE-B103-30EE-EFBD29CA0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7CB488-D52D-4719-984D-1D643EA27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14</a:t>
            </a:fld>
            <a:endParaRPr lang="de-DE" alt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E44BE2-1523-3DC9-F8C7-9A8F11390424}"/>
              </a:ext>
            </a:extLst>
          </p:cNvPr>
          <p:cNvSpPr txBox="1"/>
          <p:nvPr/>
        </p:nvSpPr>
        <p:spPr>
          <a:xfrm>
            <a:off x="7317689" y="2529770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Erster Experimenteller Test: </a:t>
            </a:r>
          </a:p>
          <a:p>
            <a:r>
              <a:rPr lang="de-DE" dirty="0"/>
              <a:t>CNN vs. Einfaches Farbmodell</a:t>
            </a:r>
            <a:endParaRPr lang="en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4651A8-4720-135C-2FDD-C0CD6CEE7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3140968"/>
            <a:ext cx="4173457" cy="158243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3DAE58-DB2E-16E7-A192-25C4DF45FECB}"/>
              </a:ext>
            </a:extLst>
          </p:cNvPr>
          <p:cNvSpPr txBox="1"/>
          <p:nvPr/>
        </p:nvSpPr>
        <p:spPr>
          <a:xfrm>
            <a:off x="7320136" y="4797152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⇒</a:t>
            </a:r>
            <a:r>
              <a:rPr lang="en-US" dirty="0"/>
              <a:t> Farben </a:t>
            </a:r>
            <a:r>
              <a:rPr lang="en-US" dirty="0" err="1"/>
              <a:t>scheinen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Entscheidungskriterien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sein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4420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AED7F-2FF9-66C3-762E-C901F62D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Feature Analyse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E72601E-7B95-305B-6F37-BA07CD692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4" y="1558782"/>
            <a:ext cx="5726601" cy="388843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CD0DF9-4E62-35E1-54BA-72D6610D9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48AEA1-184A-7CA0-36D0-C3591AC2E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15</a:t>
            </a:fld>
            <a:endParaRPr lang="de-DE" alt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565672-E126-8741-625D-05FF5B440B10}"/>
              </a:ext>
            </a:extLst>
          </p:cNvPr>
          <p:cNvSpPr txBox="1"/>
          <p:nvPr/>
        </p:nvSpPr>
        <p:spPr>
          <a:xfrm>
            <a:off x="6719265" y="2204864"/>
            <a:ext cx="5039101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Was </a:t>
            </a:r>
            <a:r>
              <a:rPr lang="en-US" sz="2000" b="1" dirty="0" err="1"/>
              <a:t>zeigt</a:t>
            </a:r>
            <a:r>
              <a:rPr lang="en-US" sz="2000" b="1" dirty="0"/>
              <a:t> </a:t>
            </a:r>
            <a:r>
              <a:rPr lang="en-US" sz="2000" b="1" dirty="0" err="1"/>
              <a:t>uns</a:t>
            </a:r>
            <a:r>
              <a:rPr lang="en-US" sz="2000" b="1" dirty="0"/>
              <a:t> die </a:t>
            </a:r>
            <a:r>
              <a:rPr lang="en-US" sz="2000" b="1" dirty="0" err="1"/>
              <a:t>Analyse</a:t>
            </a:r>
            <a:r>
              <a:rPr lang="en-US" sz="2000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Farbfeatures</a:t>
            </a:r>
            <a:r>
              <a:rPr lang="en-US" sz="2000" dirty="0"/>
              <a:t> </a:t>
            </a:r>
            <a:r>
              <a:rPr lang="en-US" sz="2000" dirty="0" err="1"/>
              <a:t>dominieren</a:t>
            </a:r>
            <a:r>
              <a:rPr lang="en-US" sz="2000" dirty="0"/>
              <a:t> die </a:t>
            </a:r>
            <a:r>
              <a:rPr lang="en-US" sz="2000" dirty="0" err="1"/>
              <a:t>Klassifikation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Rot </a:t>
            </a:r>
            <a:r>
              <a:rPr lang="en-US" sz="2000" dirty="0" err="1"/>
              <a:t>Mittelwert</a:t>
            </a:r>
            <a:r>
              <a:rPr lang="en-US" sz="2000" dirty="0"/>
              <a:t> das </a:t>
            </a:r>
            <a:r>
              <a:rPr lang="en-US" sz="2000" dirty="0" err="1"/>
              <a:t>wichtigste</a:t>
            </a:r>
            <a:r>
              <a:rPr lang="en-US" sz="2000" dirty="0"/>
              <a:t> Feature, </a:t>
            </a:r>
            <a:r>
              <a:rPr lang="en-US" sz="2000" dirty="0" err="1"/>
              <a:t>gefolgt</a:t>
            </a:r>
            <a:r>
              <a:rPr lang="en-US" sz="2000" dirty="0"/>
              <a:t> von Blau </a:t>
            </a:r>
            <a:r>
              <a:rPr lang="en-US" sz="2000" dirty="0" err="1"/>
              <a:t>basierten</a:t>
            </a:r>
            <a:r>
              <a:rPr lang="en-US" sz="2000" dirty="0"/>
              <a:t> Features</a:t>
            </a:r>
            <a:endParaRPr lang="en-DE" sz="2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140CF40-AECC-A9CB-8384-46E8A09E669C}"/>
              </a:ext>
            </a:extLst>
          </p:cNvPr>
          <p:cNvSpPr txBox="1"/>
          <p:nvPr/>
        </p:nvSpPr>
        <p:spPr>
          <a:xfrm>
            <a:off x="695400" y="5589240"/>
            <a:ext cx="6192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Positive </a:t>
            </a:r>
            <a:r>
              <a:rPr lang="en-US" u="sng" dirty="0" err="1"/>
              <a:t>Werte</a:t>
            </a:r>
            <a:r>
              <a:rPr lang="en-US" u="sng" dirty="0"/>
              <a:t> </a:t>
            </a:r>
            <a:r>
              <a:rPr lang="en-US" dirty="0"/>
              <a:t>= </a:t>
            </a:r>
            <a:r>
              <a:rPr lang="en-US" dirty="0" err="1"/>
              <a:t>erhöhte</a:t>
            </a:r>
            <a:r>
              <a:rPr lang="en-US" dirty="0"/>
              <a:t> Wildfire </a:t>
            </a:r>
            <a:r>
              <a:rPr lang="en-US" dirty="0" err="1"/>
              <a:t>Wahrscheinlichkeit</a:t>
            </a:r>
            <a:endParaRPr lang="en-US" dirty="0"/>
          </a:p>
          <a:p>
            <a:r>
              <a:rPr lang="en-US" u="sng" dirty="0"/>
              <a:t>Negative </a:t>
            </a:r>
            <a:r>
              <a:rPr lang="en-US" u="sng" dirty="0" err="1"/>
              <a:t>Werte</a:t>
            </a:r>
            <a:r>
              <a:rPr lang="en-US" u="sng" dirty="0"/>
              <a:t> </a:t>
            </a:r>
            <a:r>
              <a:rPr lang="en-US" dirty="0"/>
              <a:t>= </a:t>
            </a:r>
            <a:r>
              <a:rPr lang="en-US" dirty="0" err="1"/>
              <a:t>reduzierte</a:t>
            </a:r>
            <a:r>
              <a:rPr lang="en-US" dirty="0"/>
              <a:t> Wildfire </a:t>
            </a:r>
            <a:r>
              <a:rPr lang="en-US" dirty="0" err="1"/>
              <a:t>Wahrscheinlichkeit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1534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88F99A-4FA3-101A-D43B-60A9A7EE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</a:t>
            </a:r>
            <a:r>
              <a:rPr lang="en-US" dirty="0"/>
              <a:t>RGB-</a:t>
            </a:r>
            <a:r>
              <a:rPr lang="en-US" dirty="0" err="1"/>
              <a:t>Kanäle</a:t>
            </a:r>
            <a:r>
              <a:rPr lang="en-US" dirty="0"/>
              <a:t> </a:t>
            </a:r>
            <a:r>
              <a:rPr lang="en-US" dirty="0" err="1"/>
              <a:t>Detailanalyse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036BF37-DEB3-C012-0DB6-795A564FA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340768"/>
            <a:ext cx="10176321" cy="336438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A52B2-FFF4-8DA8-0103-1CAA18DB3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5B148E-4600-ABD9-FC23-EA35479EE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16</a:t>
            </a:fld>
            <a:endParaRPr lang="de-DE" alt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797DF71-DE75-D708-358E-10C2A3B37816}"/>
              </a:ext>
            </a:extLst>
          </p:cNvPr>
          <p:cNvSpPr txBox="1"/>
          <p:nvPr/>
        </p:nvSpPr>
        <p:spPr>
          <a:xfrm>
            <a:off x="2855640" y="4797152"/>
            <a:ext cx="7416824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Rot-Kanal: </a:t>
            </a:r>
            <a:r>
              <a:rPr lang="en-US" dirty="0" err="1"/>
              <a:t>Größte</a:t>
            </a:r>
            <a:r>
              <a:rPr lang="en-US" dirty="0"/>
              <a:t> </a:t>
            </a:r>
            <a:r>
              <a:rPr lang="en-US" dirty="0" err="1"/>
              <a:t>Differenz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den Klassen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Blau-Kanal: </a:t>
            </a:r>
            <a:r>
              <a:rPr lang="en-US" dirty="0" err="1"/>
              <a:t>Zweitgrößte</a:t>
            </a:r>
            <a:r>
              <a:rPr lang="en-US" dirty="0"/>
              <a:t> </a:t>
            </a:r>
            <a:r>
              <a:rPr lang="en-US" dirty="0" err="1"/>
              <a:t>Differenz</a:t>
            </a:r>
            <a:r>
              <a:rPr lang="en-US" dirty="0"/>
              <a:t> – </a:t>
            </a:r>
            <a:r>
              <a:rPr lang="en-US" dirty="0" err="1"/>
              <a:t>unterstützt</a:t>
            </a:r>
            <a:r>
              <a:rPr lang="en-US" dirty="0"/>
              <a:t> die </a:t>
            </a:r>
            <a:r>
              <a:rPr lang="en-US" dirty="0" err="1"/>
              <a:t>Klassifikation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Grün-Kanal: </a:t>
            </a:r>
            <a:r>
              <a:rPr lang="en-US" dirty="0" err="1"/>
              <a:t>Kleinere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messbare</a:t>
            </a:r>
            <a:r>
              <a:rPr lang="en-US" dirty="0"/>
              <a:t> </a:t>
            </a:r>
            <a:r>
              <a:rPr lang="en-US" dirty="0" err="1"/>
              <a:t>Differenz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39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010CA-FA90-C551-4B2E-BC5C6C34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Rot vs. Blau </a:t>
            </a:r>
            <a:r>
              <a:rPr lang="de-DE" dirty="0" err="1"/>
              <a:t>Scatter</a:t>
            </a:r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54651-5EA0-B220-DEF2-7B22846AA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9B289F-E2CE-2423-29E7-E673CAF1A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17</a:t>
            </a:fld>
            <a:endParaRPr lang="de-DE" alt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2E2F774-08EA-C9EF-AE18-A69C068D45E0}"/>
              </a:ext>
            </a:extLst>
          </p:cNvPr>
          <p:cNvSpPr txBox="1"/>
          <p:nvPr/>
        </p:nvSpPr>
        <p:spPr>
          <a:xfrm>
            <a:off x="5447928" y="2132857"/>
            <a:ext cx="56166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</a:t>
            </a:r>
            <a:r>
              <a:rPr lang="en-US" dirty="0" err="1"/>
              <a:t>Trennung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kombinierte</a:t>
            </a:r>
            <a:r>
              <a:rPr lang="en-US" dirty="0"/>
              <a:t> RGB-</a:t>
            </a:r>
            <a:r>
              <a:rPr lang="en-US" dirty="0" err="1"/>
              <a:t>Indikatoren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Wildfire (links </a:t>
            </a:r>
            <a:r>
              <a:rPr lang="en-US" dirty="0" err="1"/>
              <a:t>unten</a:t>
            </a:r>
            <a:r>
              <a:rPr lang="en-US" dirty="0"/>
              <a:t>): </a:t>
            </a:r>
            <a:r>
              <a:rPr lang="en-US" dirty="0" err="1"/>
              <a:t>Gedämpfte</a:t>
            </a:r>
            <a:r>
              <a:rPr lang="en-US" dirty="0"/>
              <a:t> Rot + Blau </a:t>
            </a:r>
          </a:p>
          <a:p>
            <a:r>
              <a:rPr lang="en-US" dirty="0"/>
              <a:t>	= </a:t>
            </a:r>
            <a:r>
              <a:rPr lang="en-US" dirty="0" err="1"/>
              <a:t>trockene</a:t>
            </a:r>
            <a:r>
              <a:rPr lang="en-US" dirty="0"/>
              <a:t> Vegetation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No-Wildfire (</a:t>
            </a:r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oben</a:t>
            </a:r>
            <a:r>
              <a:rPr lang="en-US" dirty="0"/>
              <a:t>): Intensive Rot + Blau </a:t>
            </a:r>
          </a:p>
          <a:p>
            <a:r>
              <a:rPr lang="en-US" dirty="0"/>
              <a:t>	= </a:t>
            </a:r>
            <a:r>
              <a:rPr lang="en-US" dirty="0" err="1"/>
              <a:t>vitale</a:t>
            </a:r>
            <a:r>
              <a:rPr lang="en-US" dirty="0"/>
              <a:t> Vegetation</a:t>
            </a:r>
          </a:p>
          <a:p>
            <a:endParaRPr lang="en-US" dirty="0"/>
          </a:p>
          <a:p>
            <a:r>
              <a:rPr lang="en-US" b="1" dirty="0" err="1"/>
              <a:t>Bestätigt</a:t>
            </a:r>
            <a:r>
              <a:rPr lang="en-US" b="1" dirty="0"/>
              <a:t>: </a:t>
            </a:r>
            <a:r>
              <a:rPr lang="de-DE" dirty="0"/>
              <a:t>Das Modell erkennt Waldbrandgefahr über kombinierte Farbintensitäts-Analyse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" name="Inhaltsplatzhalter 19">
            <a:extLst>
              <a:ext uri="{FF2B5EF4-FFF2-40B4-BE49-F238E27FC236}">
                <a16:creationId xmlns:a16="http://schemas.microsoft.com/office/drawing/2014/main" id="{E1055EA3-AE7B-CCAB-9D96-885ADB531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772816"/>
            <a:ext cx="4501220" cy="4104456"/>
          </a:xfr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8388F31-E629-9D3E-95BE-07857B73C12F}"/>
              </a:ext>
            </a:extLst>
          </p:cNvPr>
          <p:cNvCxnSpPr>
            <a:cxnSpLocks/>
          </p:cNvCxnSpPr>
          <p:nvPr/>
        </p:nvCxnSpPr>
        <p:spPr>
          <a:xfrm>
            <a:off x="1775520" y="2636912"/>
            <a:ext cx="2592288" cy="2592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295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51824-9B08-6085-DA5C-3B4BCD44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Interpretation und Fazit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82BD4C-80BB-5B85-97F2-6033781F7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66AA9-D22B-32FA-0D21-0FD0A95B5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9663E8-7A9E-B018-327C-D655414CF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30236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F390B-FE8D-D71C-D833-911E6050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B618E5E9-266D-B414-71BB-2CC2E6C4A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736003"/>
              </p:ext>
            </p:extLst>
          </p:nvPr>
        </p:nvGraphicFramePr>
        <p:xfrm>
          <a:off x="384175" y="1295400"/>
          <a:ext cx="10752138" cy="201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9257">
                  <a:extLst>
                    <a:ext uri="{9D8B030D-6E8A-4147-A177-3AD203B41FA5}">
                      <a16:colId xmlns:a16="http://schemas.microsoft.com/office/drawing/2014/main" val="1069174546"/>
                    </a:ext>
                  </a:extLst>
                </a:gridCol>
                <a:gridCol w="10152881">
                  <a:extLst>
                    <a:ext uri="{9D8B030D-6E8A-4147-A177-3AD203B41FA5}">
                      <a16:colId xmlns:a16="http://schemas.microsoft.com/office/drawing/2014/main" val="69330461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de-DE" sz="1600" b="0" dirty="0"/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2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DE" sz="1600" dirty="0"/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438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535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6929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83678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118038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72FC0B-AC08-8965-2B99-F99FD147A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EAC6CB-03FF-38E3-BF61-B1318C7A5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82981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F87A-CA6C-94BC-4DE7-2BE545F9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6F7AF-25A2-93EB-A20B-BA26664E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Bild Referenzen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933E0DF-350C-5CC2-5856-41BFDC643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5279"/>
              </p:ext>
            </p:extLst>
          </p:nvPr>
        </p:nvGraphicFramePr>
        <p:xfrm>
          <a:off x="384175" y="1295400"/>
          <a:ext cx="10752138" cy="2499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9257">
                  <a:extLst>
                    <a:ext uri="{9D8B030D-6E8A-4147-A177-3AD203B41FA5}">
                      <a16:colId xmlns:a16="http://schemas.microsoft.com/office/drawing/2014/main" val="1069174546"/>
                    </a:ext>
                  </a:extLst>
                </a:gridCol>
                <a:gridCol w="10152881">
                  <a:extLst>
                    <a:ext uri="{9D8B030D-6E8A-4147-A177-3AD203B41FA5}">
                      <a16:colId xmlns:a16="http://schemas.microsoft.com/office/drawing/2014/main" val="69330461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de-DE" sz="1600" b="0" dirty="0"/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/>
                        <a:t>https://external-content.duckduckgo.com/iu/?u=https%3A%2F%2Flearnopencv.com%2Fwp-content%2Fuploads%2F2023%2F12%2FGradCAM-glioma-768x268.png&amp;f=1&amp;nofb=1&amp;ipt=005557ac801ce9a021dbbf7f468e3ad4c3f8cf41e29fdb3a08d82a4f2ca5eb35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2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DE" sz="1600" dirty="0"/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438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535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6929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83678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118038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331F15-FF40-5E78-51A6-162993D92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CF7A4F-C7DC-9658-3552-A49D06BB6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46341753"/>
      </p:ext>
    </p:extLst>
  </p:cSld>
  <p:clrMapOvr>
    <a:masterClrMapping/>
  </p:clrMapOvr>
</p:sld>
</file>

<file path=ppt/theme/theme1.xml><?xml version="1.0" encoding="utf-8"?>
<a:theme xmlns:a="http://schemas.openxmlformats.org/drawingml/2006/main" name="1_FHAAC Design weiß auf schwarz">
  <a:themeElements>
    <a:clrScheme name="FH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Breitbild</PresentationFormat>
  <Paragraphs>166</Paragraphs>
  <Slides>20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Verdana</vt:lpstr>
      <vt:lpstr>Wingdings</vt:lpstr>
      <vt:lpstr>1_FHAAC Design weiß auf schwarz</vt:lpstr>
      <vt:lpstr>ADA 2025 – Waldbranderkennung mittels Bildklassifikation</vt:lpstr>
      <vt:lpstr>Inhaltsverzeichnis</vt:lpstr>
      <vt:lpstr>Datensatz</vt:lpstr>
      <vt:lpstr>Vorverarbeitung und Explorative Datenanalyse</vt:lpstr>
      <vt:lpstr>Einordung des Anwendungsproblems </vt:lpstr>
      <vt:lpstr>Welche CNN Architektur erreicht die höchste Genauigkeit? </vt:lpstr>
      <vt:lpstr>Wie wirkt sich Data Augmentation auf die Erkennungsgenauigkeit des Modells aus? </vt:lpstr>
      <vt:lpstr>Wie wirkt sich Data Augmentation auf die Erkennungsgenauigkeit des Modells aus? </vt:lpstr>
      <vt:lpstr>Wie wirkt sich Data Augmentation auf die Erkennungsgenauigkeit des Modells aus? </vt:lpstr>
      <vt:lpstr>Vergleich – unveränderte und veränderte Testdaten Baseline</vt:lpstr>
      <vt:lpstr>Vergleich – unveränderte und veränderte Testdaten Kombination</vt:lpstr>
      <vt:lpstr>Welche Kriterien nutzt das Model hauptsächlich zur Klassifizierung? - GradCam </vt:lpstr>
      <vt:lpstr>Welche Kriterien nutzt das Model hauptsächlich zur Klassifizierung? - GradCam</vt:lpstr>
      <vt:lpstr>Welche Kriterien nutzt das Model hauptsächlich zur Klassifizierung? - Hypothese</vt:lpstr>
      <vt:lpstr>Welche Kriterien nutzt das Model hauptsächlich zur Klassifizierung? – Feature Analyse</vt:lpstr>
      <vt:lpstr>Welche Kriterien nutzt das Model hauptsächlich zur Klassifizierung? – RGB-Kanäle Detailanalyse</vt:lpstr>
      <vt:lpstr>Welche Kriterien nutzt das Model hauptsächlich zur Klassifizierung? – Rot vs. Blau Scatter</vt:lpstr>
      <vt:lpstr>Interpretation und Fazit </vt:lpstr>
      <vt:lpstr>Referenzen</vt:lpstr>
      <vt:lpstr>Bild Referenzen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2020-04-20T17:11:29Z</dcterms:created>
  <dcterms:modified xsi:type="dcterms:W3CDTF">2025-06-15T16:25:54Z</dcterms:modified>
</cp:coreProperties>
</file>